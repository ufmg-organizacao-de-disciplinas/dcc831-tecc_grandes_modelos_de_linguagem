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João Vítor Fernandes Dia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29T21:56:50.867">
    <p:pos x="196" y="725"/>
    <p:text>Botei isso aqui mesmo que tenha sido depois de testarmos porque acho que faz sentido seguir essa sequência por ser mais didática. Será que deveríamos ir cronologicamente sequenciais?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1-29T22:17:10.947">
    <p:pos x="196" y="280"/>
    <p:text>Esse é o termo certo?</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b7921100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b7921100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b79211001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b79211001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b79211001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b79211001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b79211001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b79211001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b79211001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b79211001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b79211001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b79211001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b79211001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b79211001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b79211001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b79211001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b79211001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b79211001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b79211001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b79211001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t>JSONLLM</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pt-BR"/>
              <a:t>João Vítor Fernandes Dias</a:t>
            </a:r>
            <a:endParaRPr/>
          </a:p>
          <a:p>
            <a:pPr indent="0" lvl="0" marL="0" rtl="0" algn="ctr">
              <a:spcBef>
                <a:spcPts val="0"/>
              </a:spcBef>
              <a:spcAft>
                <a:spcPts val="0"/>
              </a:spcAft>
              <a:buNone/>
            </a:pPr>
            <a:r>
              <a:rPr lang="pt-BR"/>
              <a:t>Melissa Dias Mattos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Introdução</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t-BR"/>
              <a:t>Extração de Atributos</a:t>
            </a:r>
            <a:endParaRPr/>
          </a:p>
          <a:p>
            <a:pPr indent="-342900" lvl="0" marL="457200" rtl="0" algn="l">
              <a:spcBef>
                <a:spcPts val="0"/>
              </a:spcBef>
              <a:spcAft>
                <a:spcPts val="0"/>
              </a:spcAft>
              <a:buSzPts val="1800"/>
              <a:buChar char="●"/>
            </a:pPr>
            <a:r>
              <a:rPr lang="pt-BR"/>
              <a:t>Potencial das LLMs</a:t>
            </a:r>
            <a:endParaRPr/>
          </a:p>
          <a:p>
            <a:pPr indent="-342900" lvl="0" marL="457200" rtl="0" algn="l">
              <a:spcBef>
                <a:spcPts val="0"/>
              </a:spcBef>
              <a:spcAft>
                <a:spcPts val="0"/>
              </a:spcAft>
              <a:buSzPts val="1800"/>
              <a:buChar char="●"/>
            </a:pPr>
            <a:r>
              <a:rPr b="1" lang="pt-BR"/>
              <a:t>Motivação do Projeto:</a:t>
            </a:r>
            <a:r>
              <a:rPr lang="pt-BR"/>
              <a:t> Necessidade de </a:t>
            </a:r>
            <a:r>
              <a:rPr i="1" lang="pt-BR"/>
              <a:t>benchmarks</a:t>
            </a:r>
            <a:r>
              <a:rPr lang="pt-BR"/>
              <a:t> de qualidade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Proposta e objetivos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t-BR"/>
              <a:t>Proposta: Benchmark JSONLLM</a:t>
            </a:r>
            <a:endParaRPr/>
          </a:p>
          <a:p>
            <a:pPr indent="-342900" lvl="0" marL="457200" rtl="0" algn="l">
              <a:spcBef>
                <a:spcPts val="0"/>
              </a:spcBef>
              <a:spcAft>
                <a:spcPts val="0"/>
              </a:spcAft>
              <a:buSzPts val="1800"/>
              <a:buChar char="●"/>
            </a:pPr>
            <a:r>
              <a:rPr lang="pt-BR"/>
              <a:t>Solução</a:t>
            </a:r>
            <a:endParaRPr/>
          </a:p>
          <a:p>
            <a:pPr indent="-317500" lvl="1" marL="914400" rtl="0" algn="l">
              <a:spcBef>
                <a:spcPts val="0"/>
              </a:spcBef>
              <a:spcAft>
                <a:spcPts val="0"/>
              </a:spcAft>
              <a:buSzPts val="1400"/>
              <a:buChar char="○"/>
            </a:pPr>
            <a:r>
              <a:rPr lang="pt-BR"/>
              <a:t>Agrupa e unifica os datasets MAVE, AE110K e OA-Mine</a:t>
            </a:r>
            <a:endParaRPr/>
          </a:p>
          <a:p>
            <a:pPr indent="-317500" lvl="1" marL="914400" rtl="0" algn="l">
              <a:spcBef>
                <a:spcPts val="0"/>
              </a:spcBef>
              <a:spcAft>
                <a:spcPts val="0"/>
              </a:spcAft>
              <a:buSzPts val="1400"/>
              <a:buChar char="○"/>
            </a:pPr>
            <a:r>
              <a:rPr lang="pt-BR"/>
              <a:t>Métrica por similaridade semântica</a:t>
            </a:r>
            <a:endParaRPr/>
          </a:p>
          <a:p>
            <a:pPr indent="-317500" lvl="1" marL="914400" rtl="0" algn="l">
              <a:spcBef>
                <a:spcPts val="0"/>
              </a:spcBef>
              <a:spcAft>
                <a:spcPts val="0"/>
              </a:spcAft>
              <a:buSzPts val="1400"/>
              <a:buChar char="○"/>
            </a:pPr>
            <a:r>
              <a:rPr lang="pt-BR"/>
              <a:t>Adição de listas de valores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Metodologia: Modelos e Desafios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t-BR"/>
              <a:t>Testes Iniciais</a:t>
            </a:r>
            <a:endParaRPr/>
          </a:p>
          <a:p>
            <a:pPr indent="-317500" lvl="1" marL="914400" rtl="0" algn="l">
              <a:spcBef>
                <a:spcPts val="0"/>
              </a:spcBef>
              <a:spcAft>
                <a:spcPts val="0"/>
              </a:spcAft>
              <a:buSzPts val="1400"/>
              <a:buChar char="○"/>
            </a:pPr>
            <a:r>
              <a:rPr lang="pt-BR"/>
              <a:t>BILSTM &lt;alguma coisa&gt;</a:t>
            </a:r>
            <a:endParaRPr/>
          </a:p>
          <a:p>
            <a:pPr indent="-317500" lvl="1" marL="914400" rtl="0" algn="l">
              <a:spcBef>
                <a:spcPts val="0"/>
              </a:spcBef>
              <a:spcAft>
                <a:spcPts val="0"/>
              </a:spcAft>
              <a:buSzPts val="1400"/>
              <a:buChar char="○"/>
            </a:pPr>
            <a:r>
              <a:rPr lang="pt-BR"/>
              <a:t>LiquidAI/LFM2-350M-Extract e </a:t>
            </a:r>
            <a:r>
              <a:rPr lang="pt-BR"/>
              <a:t>LiquidAI/LFM2-1.2B-Extract</a:t>
            </a:r>
            <a:endParaRPr/>
          </a:p>
          <a:p>
            <a:pPr indent="-342900" lvl="0" marL="457200" rtl="0" algn="l">
              <a:spcBef>
                <a:spcPts val="0"/>
              </a:spcBef>
              <a:spcAft>
                <a:spcPts val="0"/>
              </a:spcAft>
              <a:buSzPts val="1800"/>
              <a:buChar char="●"/>
            </a:pPr>
            <a:r>
              <a:rPr lang="pt-BR"/>
              <a:t>Desafios</a:t>
            </a:r>
            <a:endParaRPr/>
          </a:p>
          <a:p>
            <a:pPr indent="-317500" lvl="1" marL="914400" rtl="0" algn="l">
              <a:spcBef>
                <a:spcPts val="0"/>
              </a:spcBef>
              <a:spcAft>
                <a:spcPts val="0"/>
              </a:spcAft>
              <a:buSzPts val="1400"/>
              <a:buChar char="○"/>
            </a:pPr>
            <a:r>
              <a:rPr lang="pt-BR"/>
              <a:t>Falha na geração de saídas JSON válidas</a:t>
            </a:r>
            <a:endParaRPr/>
          </a:p>
          <a:p>
            <a:pPr indent="-342900" lvl="0" marL="457200" rtl="0" algn="l">
              <a:spcBef>
                <a:spcPts val="0"/>
              </a:spcBef>
              <a:spcAft>
                <a:spcPts val="0"/>
              </a:spcAft>
              <a:buSzPts val="1800"/>
              <a:buChar char="●"/>
            </a:pPr>
            <a:r>
              <a:rPr lang="pt-BR"/>
              <a:t>Mitigações sem sucesso: </a:t>
            </a:r>
            <a:r>
              <a:rPr i="1" lang="pt-BR"/>
              <a:t>Role Prompting, Few-Shot Learning, JSON Parsing</a:t>
            </a:r>
            <a:endParaRPr i="1"/>
          </a:p>
          <a:p>
            <a:pPr indent="-342900" lvl="0" marL="457200" rtl="0" algn="l">
              <a:spcBef>
                <a:spcPts val="0"/>
              </a:spcBef>
              <a:spcAft>
                <a:spcPts val="0"/>
              </a:spcAft>
              <a:buSzPts val="1800"/>
              <a:buChar char="●"/>
            </a:pPr>
            <a:r>
              <a:rPr lang="pt-BR"/>
              <a:t>Modelo de sucesso: Gemma 2: 2B com a biblioteca </a:t>
            </a:r>
            <a:r>
              <a:rPr b="1" lang="pt-BR"/>
              <a:t>LangExtract</a:t>
            </a:r>
            <a:endParaRPr b="1"/>
          </a:p>
          <a:p>
            <a:pPr indent="-317500" lvl="1" marL="914400" rtl="0" algn="l">
              <a:spcBef>
                <a:spcPts val="0"/>
              </a:spcBef>
              <a:spcAft>
                <a:spcPts val="0"/>
              </a:spcAft>
              <a:buSzPts val="1400"/>
              <a:buChar char="○"/>
            </a:pPr>
            <a:r>
              <a:rPr b="1" lang="pt-BR"/>
              <a:t>Técnicas: </a:t>
            </a:r>
            <a:r>
              <a:rPr i="1" lang="pt-BR"/>
              <a:t>Role Prompting, Few-Shot Learning, Chain of Thought</a:t>
            </a:r>
            <a:endParaRPr b="1"/>
          </a:p>
        </p:txBody>
      </p:sp>
      <p:pic>
        <p:nvPicPr>
          <p:cNvPr id="74" name="Google Shape;74;p16"/>
          <p:cNvPicPr preferRelativeResize="0"/>
          <p:nvPr/>
        </p:nvPicPr>
        <p:blipFill>
          <a:blip r:embed="rId3">
            <a:alphaModFix/>
          </a:blip>
          <a:stretch>
            <a:fillRect/>
          </a:stretch>
        </p:blipFill>
        <p:spPr>
          <a:xfrm>
            <a:off x="6020095" y="0"/>
            <a:ext cx="3123900" cy="2349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Metodologia: Coleta de Dados</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t-BR"/>
              <a:t>Datasets Originais</a:t>
            </a:r>
            <a:endParaRPr/>
          </a:p>
          <a:p>
            <a:pPr indent="-317500" lvl="1" marL="914400" rtl="0" algn="l">
              <a:spcBef>
                <a:spcPts val="0"/>
              </a:spcBef>
              <a:spcAft>
                <a:spcPts val="0"/>
              </a:spcAft>
              <a:buSzPts val="1400"/>
              <a:buChar char="○"/>
            </a:pPr>
            <a:r>
              <a:rPr lang="pt-BR"/>
              <a:t>AE-110K (Attribute Extraction 110K)</a:t>
            </a:r>
            <a:endParaRPr/>
          </a:p>
          <a:p>
            <a:pPr indent="-317500" lvl="1" marL="914400" rtl="0" algn="l">
              <a:spcBef>
                <a:spcPts val="0"/>
              </a:spcBef>
              <a:spcAft>
                <a:spcPts val="0"/>
              </a:spcAft>
              <a:buSzPts val="1400"/>
              <a:buChar char="○"/>
            </a:pPr>
            <a:r>
              <a:rPr lang="pt-BR"/>
              <a:t>OA-Mine (Open Attribute Mine)</a:t>
            </a:r>
            <a:endParaRPr/>
          </a:p>
          <a:p>
            <a:pPr indent="-317500" lvl="1" marL="914400" rtl="0" algn="l">
              <a:spcBef>
                <a:spcPts val="0"/>
              </a:spcBef>
              <a:spcAft>
                <a:spcPts val="0"/>
              </a:spcAft>
              <a:buSzPts val="1400"/>
              <a:buChar char="○"/>
            </a:pPr>
            <a:r>
              <a:rPr lang="pt-BR"/>
              <a:t>MAVE (Multi-source Attribute Value Extraction)</a:t>
            </a:r>
            <a:endParaRPr/>
          </a:p>
          <a:p>
            <a:pPr indent="-342900" lvl="0" marL="457200" rtl="0" algn="l">
              <a:spcBef>
                <a:spcPts val="0"/>
              </a:spcBef>
              <a:spcAft>
                <a:spcPts val="0"/>
              </a:spcAft>
              <a:buSzPts val="1800"/>
              <a:buChar char="●"/>
            </a:pPr>
            <a:r>
              <a:rPr lang="pt-BR"/>
              <a:t>Deduplicação</a:t>
            </a:r>
            <a:endParaRPr/>
          </a:p>
          <a:p>
            <a:pPr indent="-342900" lvl="0" marL="457200" rtl="0" algn="l">
              <a:spcBef>
                <a:spcPts val="0"/>
              </a:spcBef>
              <a:spcAft>
                <a:spcPts val="0"/>
              </a:spcAft>
              <a:buSzPts val="1800"/>
              <a:buChar char="●"/>
            </a:pPr>
            <a:r>
              <a:rPr lang="pt-BR"/>
              <a:t>Repartição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8"/>
          <p:cNvPicPr preferRelativeResize="0"/>
          <p:nvPr/>
        </p:nvPicPr>
        <p:blipFill>
          <a:blip r:embed="rId3">
            <a:alphaModFix/>
          </a:blip>
          <a:stretch>
            <a:fillRect/>
          </a:stretch>
        </p:blipFill>
        <p:spPr>
          <a:xfrm>
            <a:off x="2062135" y="196625"/>
            <a:ext cx="5019724" cy="3554150"/>
          </a:xfrm>
          <a:prstGeom prst="rect">
            <a:avLst/>
          </a:prstGeom>
          <a:noFill/>
          <a:ln>
            <a:noFill/>
          </a:ln>
        </p:spPr>
      </p:pic>
      <p:pic>
        <p:nvPicPr>
          <p:cNvPr id="86" name="Google Shape;86;p18"/>
          <p:cNvPicPr preferRelativeResize="0"/>
          <p:nvPr/>
        </p:nvPicPr>
        <p:blipFill>
          <a:blip r:embed="rId4">
            <a:alphaModFix/>
          </a:blip>
          <a:stretch>
            <a:fillRect/>
          </a:stretch>
        </p:blipFill>
        <p:spPr>
          <a:xfrm>
            <a:off x="2062125" y="3790900"/>
            <a:ext cx="5019725" cy="1042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Métricas </a:t>
            </a:r>
            <a:r>
              <a:rPr lang="pt-BR"/>
              <a:t>Padrão Ouro</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t-BR"/>
              <a:t>Precision: P = VC/(NV + VC + VW)</a:t>
            </a:r>
            <a:endParaRPr/>
          </a:p>
          <a:p>
            <a:pPr indent="-342900" lvl="0" marL="457200" rtl="0" algn="l">
              <a:spcBef>
                <a:spcPts val="0"/>
              </a:spcBef>
              <a:spcAft>
                <a:spcPts val="0"/>
              </a:spcAft>
              <a:buSzPts val="1800"/>
              <a:buChar char="●"/>
            </a:pPr>
            <a:r>
              <a:rPr lang="pt-BR"/>
              <a:t>Recall: R = VC/(VN + VC + VW)</a:t>
            </a:r>
            <a:endParaRPr/>
          </a:p>
          <a:p>
            <a:pPr indent="-342900" lvl="0" marL="457200" rtl="0" algn="l">
              <a:spcBef>
                <a:spcPts val="0"/>
              </a:spcBef>
              <a:spcAft>
                <a:spcPts val="0"/>
              </a:spcAft>
              <a:buSzPts val="1800"/>
              <a:buChar char="●"/>
            </a:pPr>
            <a:r>
              <a:rPr lang="pt-BR"/>
              <a:t>F1-score: F1 = (2PR)/(P + R)</a:t>
            </a:r>
            <a:endParaRPr/>
          </a:p>
          <a:p>
            <a:pPr indent="-342900" lvl="0" marL="457200" rtl="0" algn="l">
              <a:spcBef>
                <a:spcPts val="0"/>
              </a:spcBef>
              <a:spcAft>
                <a:spcPts val="0"/>
              </a:spcAft>
              <a:buSzPts val="1800"/>
              <a:buChar char="●"/>
            </a:pPr>
            <a:r>
              <a:rPr lang="pt-BR"/>
              <a:t>Limitação</a:t>
            </a:r>
            <a:endParaRPr/>
          </a:p>
          <a:p>
            <a:pPr indent="-317500" lvl="1" marL="914400" rtl="0" algn="l">
              <a:spcBef>
                <a:spcPts val="0"/>
              </a:spcBef>
              <a:spcAft>
                <a:spcPts val="0"/>
              </a:spcAft>
              <a:buSzPts val="1400"/>
              <a:buChar char="○"/>
            </a:pPr>
            <a:r>
              <a:rPr lang="pt-BR"/>
              <a:t>Métricas de casamento exato</a:t>
            </a:r>
            <a:endParaRPr/>
          </a:p>
          <a:p>
            <a:pPr indent="-317500" lvl="1" marL="914400" rtl="0" algn="l">
              <a:spcBef>
                <a:spcPts val="0"/>
              </a:spcBef>
              <a:spcAft>
                <a:spcPts val="0"/>
              </a:spcAft>
              <a:buSzPts val="1400"/>
              <a:buChar char="○"/>
            </a:pPr>
            <a:r>
              <a:rPr lang="pt-BR"/>
              <a:t>Chave nem sempre presentes exatamente no resultado gerado</a:t>
            </a:r>
            <a:endParaRPr/>
          </a:p>
          <a:p>
            <a:pPr indent="-342900" lvl="0" marL="457200" rtl="0" algn="l">
              <a:spcBef>
                <a:spcPts val="0"/>
              </a:spcBef>
              <a:spcAft>
                <a:spcPts val="0"/>
              </a:spcAft>
              <a:buSzPts val="1800"/>
              <a:buChar char="●"/>
            </a:pPr>
            <a:r>
              <a:rPr lang="pt-BR"/>
              <a:t>Solução: similaridade semântica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Métrica Semântica</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t-BR"/>
              <a:t>Chaves e valores distintos podem apresentar significado similar</a:t>
            </a:r>
            <a:endParaRPr/>
          </a:p>
          <a:p>
            <a:pPr indent="-342900" lvl="0" marL="457200" rtl="0" algn="l">
              <a:spcBef>
                <a:spcPts val="0"/>
              </a:spcBef>
              <a:spcAft>
                <a:spcPts val="0"/>
              </a:spcAft>
              <a:buSzPts val="1800"/>
              <a:buChar char="●"/>
            </a:pPr>
            <a:r>
              <a:rPr lang="pt-BR"/>
              <a:t>Modelo </a:t>
            </a:r>
            <a:r>
              <a:rPr i="1" lang="pt-BR"/>
              <a:t>encoder-only</a:t>
            </a:r>
            <a:r>
              <a:rPr lang="pt-BR"/>
              <a:t> </a:t>
            </a:r>
            <a:r>
              <a:rPr b="1" lang="pt-BR"/>
              <a:t>MXBAI</a:t>
            </a:r>
            <a:r>
              <a:rPr lang="pt-BR"/>
              <a:t> (mixedbread-ai/mxbai-embed-large-v1)</a:t>
            </a:r>
            <a:endParaRPr/>
          </a:p>
          <a:p>
            <a:pPr indent="-317500" lvl="1" marL="914400" rtl="0" algn="l">
              <a:spcBef>
                <a:spcPts val="0"/>
              </a:spcBef>
              <a:spcAft>
                <a:spcPts val="0"/>
              </a:spcAft>
              <a:buSzPts val="1400"/>
              <a:buChar char="○"/>
            </a:pPr>
            <a:r>
              <a:rPr lang="pt-BR"/>
              <a:t>Gera </a:t>
            </a:r>
            <a:r>
              <a:rPr i="1" lang="pt-BR"/>
              <a:t>embeddings</a:t>
            </a:r>
            <a:r>
              <a:rPr lang="pt-BR"/>
              <a:t>, calcula similaridade do cosseno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Resultados e Conclusão</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i="1" lang="pt-BR"/>
              <a:t>Evaluation Suite</a:t>
            </a:r>
            <a:r>
              <a:rPr lang="pt-BR"/>
              <a:t> JSONLLM</a:t>
            </a:r>
            <a:endParaRPr/>
          </a:p>
          <a:p>
            <a:pPr indent="-317500" lvl="1" marL="914400" rtl="0" algn="l">
              <a:spcBef>
                <a:spcPts val="0"/>
              </a:spcBef>
              <a:spcAft>
                <a:spcPts val="0"/>
              </a:spcAft>
              <a:buSzPts val="1400"/>
              <a:buChar char="○"/>
            </a:pPr>
            <a:r>
              <a:rPr lang="pt-BR"/>
              <a:t>Dataset múltiplo</a:t>
            </a:r>
            <a:endParaRPr/>
          </a:p>
          <a:p>
            <a:pPr indent="-317500" lvl="1" marL="914400" rtl="0" algn="l">
              <a:spcBef>
                <a:spcPts val="0"/>
              </a:spcBef>
              <a:spcAft>
                <a:spcPts val="0"/>
              </a:spcAft>
              <a:buSzPts val="1400"/>
              <a:buChar char="○"/>
            </a:pPr>
            <a:r>
              <a:rPr lang="pt-BR"/>
              <a:t>Valores multi-valorados</a:t>
            </a:r>
            <a:endParaRPr/>
          </a:p>
          <a:p>
            <a:pPr indent="-317500" lvl="1" marL="914400" rtl="0" algn="l">
              <a:spcBef>
                <a:spcPts val="0"/>
              </a:spcBef>
              <a:spcAft>
                <a:spcPts val="0"/>
              </a:spcAft>
              <a:buSzPts val="1400"/>
              <a:buChar char="○"/>
            </a:pPr>
            <a:r>
              <a:rPr lang="pt-BR"/>
              <a:t>Mais valores a comparar</a:t>
            </a:r>
            <a:endParaRPr/>
          </a:p>
          <a:p>
            <a:pPr indent="-317500" lvl="1" marL="914400" rtl="0" algn="l">
              <a:spcBef>
                <a:spcPts val="0"/>
              </a:spcBef>
              <a:spcAft>
                <a:spcPts val="0"/>
              </a:spcAft>
              <a:buSzPts val="1400"/>
              <a:buChar char="○"/>
            </a:pPr>
            <a:r>
              <a:rPr lang="pt-BR"/>
              <a:t>Avaliação por similaridade semântica</a:t>
            </a:r>
            <a:endParaRPr/>
          </a:p>
          <a:p>
            <a:pPr indent="-342900" lvl="0" marL="457200" rtl="0" algn="l">
              <a:spcBef>
                <a:spcPts val="0"/>
              </a:spcBef>
              <a:spcAft>
                <a:spcPts val="0"/>
              </a:spcAft>
              <a:buSzPts val="1800"/>
              <a:buChar char="●"/>
            </a:pPr>
            <a:r>
              <a:rPr lang="pt-BR"/>
              <a:t>Limitações</a:t>
            </a:r>
            <a:endParaRPr/>
          </a:p>
          <a:p>
            <a:pPr indent="-317500" lvl="1" marL="914400" rtl="0" algn="l">
              <a:spcBef>
                <a:spcPts val="0"/>
              </a:spcBef>
              <a:spcAft>
                <a:spcPts val="0"/>
              </a:spcAft>
              <a:buSzPts val="1400"/>
              <a:buChar char="○"/>
            </a:pPr>
            <a:r>
              <a:rPr lang="pt-BR"/>
              <a:t>Valores não supervisionados por humanos</a:t>
            </a:r>
            <a:endParaRPr/>
          </a:p>
          <a:p>
            <a:pPr indent="-317500" lvl="1" marL="914400" rtl="0" algn="l">
              <a:spcBef>
                <a:spcPts val="0"/>
              </a:spcBef>
              <a:spcAft>
                <a:spcPts val="0"/>
              </a:spcAft>
              <a:buSzPts val="1400"/>
              <a:buChar char="○"/>
            </a:pPr>
            <a:r>
              <a:rPr lang="pt-BR"/>
              <a:t>Sem verificação de presença na descrição original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t>JSONLLM</a:t>
            </a:r>
            <a:endParaRPr/>
          </a:p>
        </p:txBody>
      </p:sp>
      <p:sp>
        <p:nvSpPr>
          <p:cNvPr id="110" name="Google Shape;110;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pt-BR"/>
              <a:t>João Vítor Fernandes Dias</a:t>
            </a:r>
            <a:endParaRPr/>
          </a:p>
          <a:p>
            <a:pPr indent="0" lvl="0" marL="0" rtl="0" algn="ctr">
              <a:spcBef>
                <a:spcPts val="0"/>
              </a:spcBef>
              <a:spcAft>
                <a:spcPts val="0"/>
              </a:spcAft>
              <a:buNone/>
            </a:pPr>
            <a:r>
              <a:rPr lang="pt-BR"/>
              <a:t>Melissa Dias Mattos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Referências</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10000"/>
          </a:bodyPr>
          <a:lstStyle/>
          <a:p>
            <a:pPr indent="-300037" lvl="0" marL="457200" rtl="0" algn="l">
              <a:spcBef>
                <a:spcPts val="0"/>
              </a:spcBef>
              <a:spcAft>
                <a:spcPts val="0"/>
              </a:spcAft>
              <a:buSzPct val="100000"/>
              <a:buChar char="●"/>
            </a:pPr>
            <a:r>
              <a:rPr lang="pt-BR"/>
              <a:t>Brinkmann, A. and Bizer, C. (2025). Self-refinement strategies for llm-based product attribute value extraction. arXiv preprint arXiv:2501.01237. Accessed October 2025.</a:t>
            </a:r>
            <a:endParaRPr/>
          </a:p>
          <a:p>
            <a:pPr indent="-300037" lvl="0" marL="457200" rtl="0" algn="l">
              <a:spcBef>
                <a:spcPts val="0"/>
              </a:spcBef>
              <a:spcAft>
                <a:spcPts val="0"/>
              </a:spcAft>
              <a:buSzPct val="100000"/>
              <a:buChar char="●"/>
            </a:pPr>
            <a:r>
              <a:rPr lang="pt-BR"/>
              <a:t>Brinkmann, A., Shraga, R., and Bizer, C. (2024). Extractgpt: Exploring the potential of large language models for product attribute value extraction. In Delir Haghighi, P., Greguš, M., Kotsis, G., and Khalil, I., editors, Information Integration and Web Intelligence, volume 15342, pages 38–52. Springer Nature Switzerland, Cham.</a:t>
            </a:r>
            <a:endParaRPr/>
          </a:p>
          <a:p>
            <a:pPr indent="-300037" lvl="0" marL="457200" rtl="0" algn="l">
              <a:spcBef>
                <a:spcPts val="0"/>
              </a:spcBef>
              <a:spcAft>
                <a:spcPts val="0"/>
              </a:spcAft>
              <a:buSzPct val="100000"/>
              <a:buChar char="●"/>
            </a:pPr>
            <a:r>
              <a:rPr lang="pt-BR"/>
              <a:t>Potta, R., Asthana, M., Yadav, S., Goyal, N., Patnaik, S., and Jain, P. (2024). Attrisage: Product attribute value extraction using graph neural networks. In Falk, N., Papi, S., and Zhang, M., editors, Proceedings of the 18th Conference of the European Chapter of the Association for Computational Linguistics: Student Research Workshop, pages 89–94, St. Julian’s, Malta. Association for Computational Linguistics.</a:t>
            </a:r>
            <a:endParaRPr/>
          </a:p>
          <a:p>
            <a:pPr indent="-300037" lvl="0" marL="457200" rtl="0" algn="l">
              <a:spcBef>
                <a:spcPts val="0"/>
              </a:spcBef>
              <a:spcAft>
                <a:spcPts val="0"/>
              </a:spcAft>
              <a:buSzPct val="100000"/>
              <a:buChar char="●"/>
            </a:pPr>
            <a:r>
              <a:rPr lang="pt-BR"/>
              <a:t>Sinha, A. and Gujral, E. (2024). Pae: Llm-based product attribute extraction for e-commerce fashion trends. arXiv preprint arXiv:2405.17533. Accessed October 2025.</a:t>
            </a:r>
            <a:endParaRPr/>
          </a:p>
          <a:p>
            <a:pPr indent="-300037" lvl="0" marL="457200" rtl="0" algn="l">
              <a:spcBef>
                <a:spcPts val="0"/>
              </a:spcBef>
              <a:spcAft>
                <a:spcPts val="0"/>
              </a:spcAft>
              <a:buSzPct val="100000"/>
              <a:buChar char="●"/>
            </a:pPr>
            <a:r>
              <a:rPr lang="pt-BR"/>
              <a:t>Xu, H., Wang, W., Mao, X., Jiang, X., and Lan, M. (2019). Scaling up open tagging from tens to thousands: Comprehension empowered attribute value extraction from product title. In Korhonen,</a:t>
            </a:r>
            <a:endParaRPr/>
          </a:p>
          <a:p>
            <a:pPr indent="-300037" lvl="0" marL="457200" rtl="0" algn="l">
              <a:spcBef>
                <a:spcPts val="0"/>
              </a:spcBef>
              <a:spcAft>
                <a:spcPts val="0"/>
              </a:spcAft>
              <a:buSzPct val="100000"/>
              <a:buChar char="●"/>
            </a:pPr>
            <a:r>
              <a:rPr lang="pt-BR"/>
              <a:t>A., Traum, D., and Màrquez, L., editors, Proceedings of the 57th Annual Meeting of the Association for Computational Linguistics, pages 5214–5223, Florence, Italy. Association for Computational Linguistics.</a:t>
            </a:r>
            <a:endParaRPr/>
          </a:p>
          <a:p>
            <a:pPr indent="-300037" lvl="0" marL="457200" rtl="0" algn="l">
              <a:spcBef>
                <a:spcPts val="0"/>
              </a:spcBef>
              <a:spcAft>
                <a:spcPts val="0"/>
              </a:spcAft>
              <a:buSzPct val="100000"/>
              <a:buChar char="●"/>
            </a:pPr>
            <a:r>
              <a:rPr lang="pt-BR"/>
              <a:t>Yang, Y., Kharitonov, E., Ghosh, S., et al. (2022). Mave: A large-scale dataset for product attribute value extraction. Accessed October 2025.</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